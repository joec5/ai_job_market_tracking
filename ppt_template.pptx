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96" r:id="rId2"/>
    <p:sldId id="257" r:id="rId3"/>
    <p:sldId id="284" r:id="rId4"/>
    <p:sldId id="285" r:id="rId5"/>
    <p:sldId id="286" r:id="rId6"/>
    <p:sldId id="287" r:id="rId7"/>
    <p:sldId id="277" r:id="rId8"/>
    <p:sldId id="266" r:id="rId9"/>
    <p:sldId id="28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105" d="100"/>
          <a:sy n="105"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C989B6-8A58-4563-BCF5-017E6264A79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3A5D398-3D0C-4979-B66B-E96CAED2E110}">
      <dgm:prSet custT="1"/>
      <dgm:spPr/>
      <dgm:t>
        <a:bodyPr/>
        <a:lstStyle/>
        <a:p>
          <a:r>
            <a:rPr lang="en-US" sz="1800" dirty="0"/>
            <a:t>I adjusted my keyword search of AI titles based on below. This was done as I felt I was missing data points due to naming convention(s) used by differing companies</a:t>
          </a:r>
          <a:r>
            <a:rPr lang="en-US" sz="1600" dirty="0"/>
            <a:t>. </a:t>
          </a:r>
        </a:p>
      </dgm:t>
    </dgm:pt>
    <dgm:pt modelId="{75BC734A-E6D1-48A5-904F-8B3F3C5DC3B3}" type="parTrans" cxnId="{CEDBDDCB-376B-40D2-8473-47280AA4679D}">
      <dgm:prSet/>
      <dgm:spPr/>
      <dgm:t>
        <a:bodyPr/>
        <a:lstStyle/>
        <a:p>
          <a:endParaRPr lang="en-US"/>
        </a:p>
      </dgm:t>
    </dgm:pt>
    <dgm:pt modelId="{EA46AE20-1AC1-4FAE-AD09-BDFF5BA76E5A}" type="sibTrans" cxnId="{CEDBDDCB-376B-40D2-8473-47280AA4679D}">
      <dgm:prSet/>
      <dgm:spPr/>
      <dgm:t>
        <a:bodyPr/>
        <a:lstStyle/>
        <a:p>
          <a:endParaRPr lang="en-US"/>
        </a:p>
      </dgm:t>
    </dgm:pt>
    <dgm:pt modelId="{ECC35210-FD61-4925-8A80-0601E3E85A74}">
      <dgm:prSet custT="1"/>
      <dgm:spPr/>
      <dgm:t>
        <a:bodyPr/>
        <a:lstStyle/>
        <a:p>
          <a:r>
            <a:rPr lang="en-US" sz="1800" dirty="0"/>
            <a:t>Note- quotations around each group of words ensures the search renders roles specific to that title or the word grouping is in the job description. </a:t>
          </a:r>
        </a:p>
      </dgm:t>
    </dgm:pt>
    <dgm:pt modelId="{FD5F54AC-A857-4097-8E42-61DEC7236228}" type="parTrans" cxnId="{8B8E4727-4109-4F6B-B60B-FC110B322094}">
      <dgm:prSet/>
      <dgm:spPr/>
      <dgm:t>
        <a:bodyPr/>
        <a:lstStyle/>
        <a:p>
          <a:endParaRPr lang="en-US"/>
        </a:p>
      </dgm:t>
    </dgm:pt>
    <dgm:pt modelId="{07144DE9-A9F3-48B1-BBD4-7BF59DEC3325}" type="sibTrans" cxnId="{8B8E4727-4109-4F6B-B60B-FC110B322094}">
      <dgm:prSet/>
      <dgm:spPr/>
      <dgm:t>
        <a:bodyPr/>
        <a:lstStyle/>
        <a:p>
          <a:endParaRPr lang="en-US"/>
        </a:p>
      </dgm:t>
    </dgm:pt>
    <dgm:pt modelId="{5EFB4C02-196A-4E72-A7C4-5C3BD09F4127}" type="pres">
      <dgm:prSet presAssocID="{5CC989B6-8A58-4563-BCF5-017E6264A79C}" presName="vert0" presStyleCnt="0">
        <dgm:presLayoutVars>
          <dgm:dir/>
          <dgm:animOne val="branch"/>
          <dgm:animLvl val="lvl"/>
        </dgm:presLayoutVars>
      </dgm:prSet>
      <dgm:spPr/>
    </dgm:pt>
    <dgm:pt modelId="{C6E0E265-1D76-4CDA-8D61-AEE0A8302690}" type="pres">
      <dgm:prSet presAssocID="{23A5D398-3D0C-4979-B66B-E96CAED2E110}" presName="thickLine" presStyleLbl="alignNode1" presStyleIdx="0" presStyleCnt="2"/>
      <dgm:spPr/>
    </dgm:pt>
    <dgm:pt modelId="{3B084886-C73D-458A-8A6E-62A7F816DA93}" type="pres">
      <dgm:prSet presAssocID="{23A5D398-3D0C-4979-B66B-E96CAED2E110}" presName="horz1" presStyleCnt="0"/>
      <dgm:spPr/>
    </dgm:pt>
    <dgm:pt modelId="{EF80F48C-3431-4844-AB50-E04FDE440F36}" type="pres">
      <dgm:prSet presAssocID="{23A5D398-3D0C-4979-B66B-E96CAED2E110}" presName="tx1" presStyleLbl="revTx" presStyleIdx="0" presStyleCnt="2"/>
      <dgm:spPr/>
    </dgm:pt>
    <dgm:pt modelId="{8A6C0CBB-043D-4510-BBE0-74DCF9C71651}" type="pres">
      <dgm:prSet presAssocID="{23A5D398-3D0C-4979-B66B-E96CAED2E110}" presName="vert1" presStyleCnt="0"/>
      <dgm:spPr/>
    </dgm:pt>
    <dgm:pt modelId="{F6C7888E-FB72-40CE-9A40-729C7D9D4B3B}" type="pres">
      <dgm:prSet presAssocID="{ECC35210-FD61-4925-8A80-0601E3E85A74}" presName="thickLine" presStyleLbl="alignNode1" presStyleIdx="1" presStyleCnt="2" custLinFactNeighborY="-8372"/>
      <dgm:spPr/>
    </dgm:pt>
    <dgm:pt modelId="{5A65159E-FF51-4CE6-8C3A-116B7F7F5B75}" type="pres">
      <dgm:prSet presAssocID="{ECC35210-FD61-4925-8A80-0601E3E85A74}" presName="horz1" presStyleCnt="0"/>
      <dgm:spPr/>
    </dgm:pt>
    <dgm:pt modelId="{B9974082-1DFF-4A3A-B7B5-B419D352DF11}" type="pres">
      <dgm:prSet presAssocID="{ECC35210-FD61-4925-8A80-0601E3E85A74}" presName="tx1" presStyleLbl="revTx" presStyleIdx="1" presStyleCnt="2" custScaleY="102728" custLinFactNeighborY="-4940"/>
      <dgm:spPr/>
    </dgm:pt>
    <dgm:pt modelId="{2D98C1F8-ADD0-4287-B306-7F7AEB7C6C4B}" type="pres">
      <dgm:prSet presAssocID="{ECC35210-FD61-4925-8A80-0601E3E85A74}" presName="vert1" presStyleCnt="0"/>
      <dgm:spPr/>
    </dgm:pt>
  </dgm:ptLst>
  <dgm:cxnLst>
    <dgm:cxn modelId="{FCF55413-ADE8-4105-A024-0F2CF60A4F1A}" type="presOf" srcId="{5CC989B6-8A58-4563-BCF5-017E6264A79C}" destId="{5EFB4C02-196A-4E72-A7C4-5C3BD09F4127}" srcOrd="0" destOrd="0" presId="urn:microsoft.com/office/officeart/2008/layout/LinedList"/>
    <dgm:cxn modelId="{8B8E4727-4109-4F6B-B60B-FC110B322094}" srcId="{5CC989B6-8A58-4563-BCF5-017E6264A79C}" destId="{ECC35210-FD61-4925-8A80-0601E3E85A74}" srcOrd="1" destOrd="0" parTransId="{FD5F54AC-A857-4097-8E42-61DEC7236228}" sibTransId="{07144DE9-A9F3-48B1-BBD4-7BF59DEC3325}"/>
    <dgm:cxn modelId="{D3B1E12C-FB74-4F1C-A78B-4935ACD1D5E9}" type="presOf" srcId="{ECC35210-FD61-4925-8A80-0601E3E85A74}" destId="{B9974082-1DFF-4A3A-B7B5-B419D352DF11}" srcOrd="0" destOrd="0" presId="urn:microsoft.com/office/officeart/2008/layout/LinedList"/>
    <dgm:cxn modelId="{EEF8E19F-2E48-40A6-A1FB-DB1D9D14086B}" type="presOf" srcId="{23A5D398-3D0C-4979-B66B-E96CAED2E110}" destId="{EF80F48C-3431-4844-AB50-E04FDE440F36}" srcOrd="0" destOrd="0" presId="urn:microsoft.com/office/officeart/2008/layout/LinedList"/>
    <dgm:cxn modelId="{CEDBDDCB-376B-40D2-8473-47280AA4679D}" srcId="{5CC989B6-8A58-4563-BCF5-017E6264A79C}" destId="{23A5D398-3D0C-4979-B66B-E96CAED2E110}" srcOrd="0" destOrd="0" parTransId="{75BC734A-E6D1-48A5-904F-8B3F3C5DC3B3}" sibTransId="{EA46AE20-1AC1-4FAE-AD09-BDFF5BA76E5A}"/>
    <dgm:cxn modelId="{A8035A9D-98F4-45C8-94D1-E274136F49A6}" type="presParOf" srcId="{5EFB4C02-196A-4E72-A7C4-5C3BD09F4127}" destId="{C6E0E265-1D76-4CDA-8D61-AEE0A8302690}" srcOrd="0" destOrd="0" presId="urn:microsoft.com/office/officeart/2008/layout/LinedList"/>
    <dgm:cxn modelId="{1222B013-08A6-4ABA-A90C-F84CB849D275}" type="presParOf" srcId="{5EFB4C02-196A-4E72-A7C4-5C3BD09F4127}" destId="{3B084886-C73D-458A-8A6E-62A7F816DA93}" srcOrd="1" destOrd="0" presId="urn:microsoft.com/office/officeart/2008/layout/LinedList"/>
    <dgm:cxn modelId="{23F370F3-6F72-4B1A-B0D7-EA12B2B1B5AA}" type="presParOf" srcId="{3B084886-C73D-458A-8A6E-62A7F816DA93}" destId="{EF80F48C-3431-4844-AB50-E04FDE440F36}" srcOrd="0" destOrd="0" presId="urn:microsoft.com/office/officeart/2008/layout/LinedList"/>
    <dgm:cxn modelId="{95A6BF34-B09D-40F2-83AD-ED10E10FCF35}" type="presParOf" srcId="{3B084886-C73D-458A-8A6E-62A7F816DA93}" destId="{8A6C0CBB-043D-4510-BBE0-74DCF9C71651}" srcOrd="1" destOrd="0" presId="urn:microsoft.com/office/officeart/2008/layout/LinedList"/>
    <dgm:cxn modelId="{9C786006-5D5E-48C3-971A-CABE198FE60B}" type="presParOf" srcId="{5EFB4C02-196A-4E72-A7C4-5C3BD09F4127}" destId="{F6C7888E-FB72-40CE-9A40-729C7D9D4B3B}" srcOrd="2" destOrd="0" presId="urn:microsoft.com/office/officeart/2008/layout/LinedList"/>
    <dgm:cxn modelId="{15477E45-D32B-433A-9BF1-B8B516B3FB4B}" type="presParOf" srcId="{5EFB4C02-196A-4E72-A7C4-5C3BD09F4127}" destId="{5A65159E-FF51-4CE6-8C3A-116B7F7F5B75}" srcOrd="3" destOrd="0" presId="urn:microsoft.com/office/officeart/2008/layout/LinedList"/>
    <dgm:cxn modelId="{60288111-E68D-4031-B177-D11D6F29ED72}" type="presParOf" srcId="{5A65159E-FF51-4CE6-8C3A-116B7F7F5B75}" destId="{B9974082-1DFF-4A3A-B7B5-B419D352DF11}" srcOrd="0" destOrd="0" presId="urn:microsoft.com/office/officeart/2008/layout/LinedList"/>
    <dgm:cxn modelId="{2EDDAFD7-F936-4451-8468-6847720C2AE4}" type="presParOf" srcId="{5A65159E-FF51-4CE6-8C3A-116B7F7F5B75}" destId="{2D98C1F8-ADD0-4287-B306-7F7AEB7C6C4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0E265-1D76-4CDA-8D61-AEE0A8302690}">
      <dsp:nvSpPr>
        <dsp:cNvPr id="0" name=""/>
        <dsp:cNvSpPr/>
      </dsp:nvSpPr>
      <dsp:spPr>
        <a:xfrm>
          <a:off x="0" y="347"/>
          <a:ext cx="41691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80F48C-3431-4844-AB50-E04FDE440F36}">
      <dsp:nvSpPr>
        <dsp:cNvPr id="0" name=""/>
        <dsp:cNvSpPr/>
      </dsp:nvSpPr>
      <dsp:spPr>
        <a:xfrm>
          <a:off x="0" y="347"/>
          <a:ext cx="4169109" cy="1568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I adjusted my keyword search of AI titles based on below. This was done as I felt I was missing data points due to naming convention(s) used by differing companies</a:t>
          </a:r>
          <a:r>
            <a:rPr lang="en-US" sz="1600" kern="1200" dirty="0"/>
            <a:t>. </a:t>
          </a:r>
        </a:p>
      </dsp:txBody>
      <dsp:txXfrm>
        <a:off x="0" y="347"/>
        <a:ext cx="4169109" cy="1568204"/>
      </dsp:txXfrm>
    </dsp:sp>
    <dsp:sp modelId="{F6C7888E-FB72-40CE-9A40-729C7D9D4B3B}">
      <dsp:nvSpPr>
        <dsp:cNvPr id="0" name=""/>
        <dsp:cNvSpPr/>
      </dsp:nvSpPr>
      <dsp:spPr>
        <a:xfrm>
          <a:off x="0" y="1433679"/>
          <a:ext cx="41691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974082-1DFF-4A3A-B7B5-B419D352DF11}">
      <dsp:nvSpPr>
        <dsp:cNvPr id="0" name=""/>
        <dsp:cNvSpPr/>
      </dsp:nvSpPr>
      <dsp:spPr>
        <a:xfrm>
          <a:off x="0" y="1491081"/>
          <a:ext cx="4165037" cy="1610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Note- quotations around each group of words ensures the search renders roles specific to that title or the word grouping is in the job description. </a:t>
          </a:r>
        </a:p>
      </dsp:txBody>
      <dsp:txXfrm>
        <a:off x="0" y="1491081"/>
        <a:ext cx="4165037" cy="161098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0709F-4A26-4A6C-880F-08E2C4873B32}"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94A6A-E48C-40CF-AB86-7608A9CBE8B3}" type="slidenum">
              <a:rPr lang="en-US" smtClean="0"/>
              <a:t>‹#›</a:t>
            </a:fld>
            <a:endParaRPr lang="en-US"/>
          </a:p>
        </p:txBody>
      </p:sp>
    </p:spTree>
    <p:extLst>
      <p:ext uri="{BB962C8B-B14F-4D97-AF65-F5344CB8AC3E}">
        <p14:creationId xmlns:p14="http://schemas.microsoft.com/office/powerpoint/2010/main" val="258674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3E80C-FFD3-F9FC-289A-6B53E75B2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26775-3340-DCA9-F5F0-4DB4C2EB2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B6AAF-1857-34EE-9441-3CAC9047D0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A9D358-B742-D9BD-6B4E-F59E66722858}"/>
              </a:ext>
            </a:extLst>
          </p:cNvPr>
          <p:cNvSpPr>
            <a:spLocks noGrp="1"/>
          </p:cNvSpPr>
          <p:nvPr>
            <p:ph type="sldNum" sz="quarter" idx="5"/>
          </p:nvPr>
        </p:nvSpPr>
        <p:spPr/>
        <p:txBody>
          <a:bodyPr/>
          <a:lstStyle/>
          <a:p>
            <a:fld id="{87494A6A-E48C-40CF-AB86-7608A9CBE8B3}" type="slidenum">
              <a:rPr lang="en-US" smtClean="0"/>
              <a:t>1</a:t>
            </a:fld>
            <a:endParaRPr lang="en-US"/>
          </a:p>
        </p:txBody>
      </p:sp>
    </p:spTree>
    <p:extLst>
      <p:ext uri="{BB962C8B-B14F-4D97-AF65-F5344CB8AC3E}">
        <p14:creationId xmlns:p14="http://schemas.microsoft.com/office/powerpoint/2010/main" val="1152852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9B53-8B33-9B5C-813C-76CC7DFAA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74BEDE-955F-0389-F882-C3905360EE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BC664E-3322-5A8F-C4A4-C82FE4432E15}"/>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7C1A8738-E8C9-26AA-B2C6-F5EA9889B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9505F3-5564-7578-07DB-6458E29BFC1D}"/>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2252212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2E76-53BD-85A3-3F3D-FE8247F049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A11427-95E4-C763-654D-737D9FA6E8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77A9F-EC8F-BE7C-6A4E-0997213256D2}"/>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107A5EBE-5057-2047-BF55-612A7765C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4C848-3E3E-3FF5-232A-B11686723386}"/>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90081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BAB0-6CC8-07E9-8AB4-5D1D8DB91C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85CA11-12C1-4962-A511-F56E633015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09C4D9-E068-2AB5-2004-BB0ABCFE92F5}"/>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AB702907-15FD-1B10-B0C2-E90D16B40D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15CD8-9380-55EE-F195-2D4BB8E108BA}"/>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1349834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88AD-2B6D-F485-CA6F-9C8F6F93F4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19D78-92FC-2EE5-7729-507AEFC91D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C5321-5547-AFCC-4518-168F1633ED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601572-AA63-62F9-573C-B19CC8A66534}"/>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6" name="Footer Placeholder 5">
            <a:extLst>
              <a:ext uri="{FF2B5EF4-FFF2-40B4-BE49-F238E27FC236}">
                <a16:creationId xmlns:a16="http://schemas.microsoft.com/office/drawing/2014/main" id="{2582E294-C5E4-5A83-C999-4AF673A6F4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766F40-D8E3-6ACD-A71F-BD3767636BBF}"/>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57396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2A58-13EE-00FC-2526-63ECF53619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5BD95-BBD6-DF41-C374-67C992D715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633F06-6DD1-EA83-14FF-033B22F9A0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E51D52-AE90-7FC6-667E-C46BFE3CFF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1B1939-5F90-0BF6-CDAB-E79E95DD0B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82DA32-FD7B-7570-0861-3E8A8F044736}"/>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8" name="Footer Placeholder 7">
            <a:extLst>
              <a:ext uri="{FF2B5EF4-FFF2-40B4-BE49-F238E27FC236}">
                <a16:creationId xmlns:a16="http://schemas.microsoft.com/office/drawing/2014/main" id="{4D7F97EB-735B-C649-A0A2-889BE09BAC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C50C40-8793-A131-B273-E8ECECB02128}"/>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422530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D559C-ACAC-449B-B1F9-8DC5C2AB81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3A74D0-4F12-2D10-099B-34C83CA83E7E}"/>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4" name="Footer Placeholder 3">
            <a:extLst>
              <a:ext uri="{FF2B5EF4-FFF2-40B4-BE49-F238E27FC236}">
                <a16:creationId xmlns:a16="http://schemas.microsoft.com/office/drawing/2014/main" id="{C8E0A14E-19C3-52F9-0938-3A75B0E98F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0F645C-E011-32F9-89A8-B6E600FB21AC}"/>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02719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5AE60-2865-BFF7-EA89-27CD08F83D66}"/>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3" name="Footer Placeholder 2">
            <a:extLst>
              <a:ext uri="{FF2B5EF4-FFF2-40B4-BE49-F238E27FC236}">
                <a16:creationId xmlns:a16="http://schemas.microsoft.com/office/drawing/2014/main" id="{A27A7D5A-52F3-5739-8C62-21B9CB8695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BE3987-CB2C-BBA9-996A-7EBE5DCCA1EC}"/>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727511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C4D11-DB3E-7E3E-5C64-B16A991E15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EE4E96-134A-2AD9-DD31-B0555C752C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260BA2-59D5-69E2-E72C-BD2CF45E2C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B804C-1A8A-C835-1862-E3454FD0D1D2}"/>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6" name="Footer Placeholder 5">
            <a:extLst>
              <a:ext uri="{FF2B5EF4-FFF2-40B4-BE49-F238E27FC236}">
                <a16:creationId xmlns:a16="http://schemas.microsoft.com/office/drawing/2014/main" id="{0C921956-D631-7083-44A0-99BEFBF5E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6DDC0F-6943-BAFD-08A5-117A458C1E26}"/>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516828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FA141-798F-C7AF-7F04-56CA517F51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589D64-B238-5861-D21F-9E1CBBD403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C966D7-76AB-4139-98D3-7C431521D9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3BAF7-F962-1DB0-D6CA-21F23AECDA24}"/>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6" name="Footer Placeholder 5">
            <a:extLst>
              <a:ext uri="{FF2B5EF4-FFF2-40B4-BE49-F238E27FC236}">
                <a16:creationId xmlns:a16="http://schemas.microsoft.com/office/drawing/2014/main" id="{7E6131F0-336E-0C42-01C8-4DF1F167C3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362FC-407C-B227-A8A6-D0DB3C8A124F}"/>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515506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2924-DBEF-A05E-8F35-9499051BE1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E7D693-8D5F-7B35-0D7E-E7074BFD5F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3DDD8-BDDF-5FE3-5519-6CCA7646A8DE}"/>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A5DB8810-37F8-F1F0-D24A-2F1E6A5B7D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D663D9-88FA-A46A-DD9B-C18EFF5F984E}"/>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4015012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74B1FF-12F9-6637-CFF1-CDC030772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A0CBDE-8C37-06C7-C2C1-471AA8F9B7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A28CE-FE81-96C0-4F8A-8AE19BE41CD1}"/>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D499AF4E-0A11-C967-0784-770E1DFC7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B4E662-22A0-7CCF-6865-8D6406A9D717}"/>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2803385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7FC22A-44D0-4B66-5E2D-001E065EB0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53339B-8DD8-FD2C-25C5-283AF48BC4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90BA-7C8D-5891-9198-51AEC2D1CA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782807E3-7668-38E1-CEF3-CE0D5DCEB8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A7F7AB-F415-C1F9-B4A6-CAEC677B1C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EC0B56-A0B0-4EBE-A13E-4196398AD721}" type="slidenum">
              <a:rPr lang="en-US" smtClean="0"/>
              <a:t>‹#›</a:t>
            </a:fld>
            <a:endParaRPr lang="en-US"/>
          </a:p>
        </p:txBody>
      </p:sp>
    </p:spTree>
    <p:extLst>
      <p:ext uri="{BB962C8B-B14F-4D97-AF65-F5344CB8AC3E}">
        <p14:creationId xmlns:p14="http://schemas.microsoft.com/office/powerpoint/2010/main" val="3446401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reativecommons.org/licenses/by-nc-sa/3.0/" TargetMode="External"/><Relationship Id="rId4" Type="http://schemas.openxmlformats.org/officeDocument/2006/relationships/hyperlink" Target="https://tekhdecoded.com/robots-and-ai-are-they-todays-new-service-worker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B97ABD-AAAF-50B7-AEA3-CB9B4E26CD0E}"/>
            </a:ext>
          </a:extLst>
        </p:cNvPr>
        <p:cNvGrpSpPr/>
        <p:nvPr/>
      </p:nvGrpSpPr>
      <p:grpSpPr>
        <a:xfrm>
          <a:off x="0" y="0"/>
          <a:ext cx="0" cy="0"/>
          <a:chOff x="0" y="0"/>
          <a:chExt cx="0" cy="0"/>
        </a:xfrm>
      </p:grpSpPr>
      <p:sp useBgFill="1">
        <p:nvSpPr>
          <p:cNvPr id="189" name="Rectangle 18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bot touching a screen&#10;&#10;AI-generated content may be incorrect.">
            <a:extLst>
              <a:ext uri="{FF2B5EF4-FFF2-40B4-BE49-F238E27FC236}">
                <a16:creationId xmlns:a16="http://schemas.microsoft.com/office/drawing/2014/main" id="{37F64D3F-37D7-5093-AC42-C8D13A8FE4B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9447" t="229" r="14976" b="1"/>
          <a:stretch>
            <a:fillRect/>
          </a:stretch>
        </p:blipFill>
        <p:spPr>
          <a:xfrm>
            <a:off x="3523488" y="10"/>
            <a:ext cx="8668512" cy="6857990"/>
          </a:xfrm>
          <a:prstGeom prst="rect">
            <a:avLst/>
          </a:prstGeom>
        </p:spPr>
      </p:pic>
      <p:sp>
        <p:nvSpPr>
          <p:cNvPr id="178" name="Rectangle 177">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descr="Title slide - Current &quot;AI&quot; Focused Opportunities as of October 15th">
            <a:extLst>
              <a:ext uri="{FF2B5EF4-FFF2-40B4-BE49-F238E27FC236}">
                <a16:creationId xmlns:a16="http://schemas.microsoft.com/office/drawing/2014/main" id="{4BA561E1-47D0-A8A8-5B43-71DAF9D3869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dirty="0">
                <a:solidFill>
                  <a:schemeClr val="bg1"/>
                </a:solidFill>
              </a:rPr>
              <a:t> “AI” Focused Job Opportunities</a:t>
            </a:r>
            <a:br>
              <a:rPr lang="en-US" dirty="0">
                <a:solidFill>
                  <a:schemeClr val="bg1"/>
                </a:solidFill>
              </a:rPr>
            </a:br>
            <a:r>
              <a:rPr lang="en-US" dirty="0">
                <a:solidFill>
                  <a:schemeClr val="bg1"/>
                </a:solidFill>
              </a:rPr>
              <a:t>as of April 20, 2026</a:t>
            </a:r>
          </a:p>
        </p:txBody>
      </p:sp>
      <p:sp>
        <p:nvSpPr>
          <p:cNvPr id="180" name="Rectangle 17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2" name="Rectangle 18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B29C9CF-59E4-57AF-2C5A-98666B6C315F}"/>
              </a:ext>
            </a:extLst>
          </p:cNvPr>
          <p:cNvSpPr txBox="1"/>
          <p:nvPr/>
        </p:nvSpPr>
        <p:spPr>
          <a:xfrm>
            <a:off x="9602830" y="6657945"/>
            <a:ext cx="2589170"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tekhdecoded.com/robots-and-ai-are-they-todays-new-service-worker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Tree>
    <p:extLst>
      <p:ext uri="{BB962C8B-B14F-4D97-AF65-F5344CB8AC3E}">
        <p14:creationId xmlns:p14="http://schemas.microsoft.com/office/powerpoint/2010/main" val="113853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descr="Slide title - Data Aggregation Process">
            <a:extLst>
              <a:ext uri="{FF2B5EF4-FFF2-40B4-BE49-F238E27FC236}">
                <a16:creationId xmlns:a16="http://schemas.microsoft.com/office/drawing/2014/main" id="{DE66D483-C97C-BEC7-B30A-DC00904BF2B7}"/>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rPr>
              <a:t>Data Aggregation Process </a:t>
            </a:r>
            <a:endParaRPr lang="en-US" dirty="0">
              <a:solidFill>
                <a:schemeClr val="bg1"/>
              </a:solidFill>
            </a:endParaRPr>
          </a:p>
        </p:txBody>
      </p:sp>
      <p:cxnSp>
        <p:nvCxnSpPr>
          <p:cNvPr id="19" name="Straight Connector 18">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descr="Outlines my data aggregation process">
            <a:extLst>
              <a:ext uri="{FF2B5EF4-FFF2-40B4-BE49-F238E27FC236}">
                <a16:creationId xmlns:a16="http://schemas.microsoft.com/office/drawing/2014/main" id="{519631B0-5A60-2E69-CB4F-C36AED9CED4C}"/>
              </a:ext>
            </a:extLst>
          </p:cNvPr>
          <p:cNvSpPr>
            <a:spLocks noGrp="1"/>
          </p:cNvSpPr>
          <p:nvPr>
            <p:ph idx="1"/>
          </p:nvPr>
        </p:nvSpPr>
        <p:spPr>
          <a:xfrm>
            <a:off x="1392667" y="2398957"/>
            <a:ext cx="9406666" cy="3526144"/>
          </a:xfrm>
        </p:spPr>
        <p:txBody>
          <a:bodyPr>
            <a:normAutofit/>
          </a:bodyPr>
          <a:lstStyle/>
          <a:p>
            <a:r>
              <a:rPr lang="en-US" sz="1600" dirty="0">
                <a:solidFill>
                  <a:schemeClr val="bg1"/>
                </a:solidFill>
              </a:rPr>
              <a:t>All data comes from the LinkedIn Jobs search tool.</a:t>
            </a:r>
          </a:p>
          <a:p>
            <a:r>
              <a:rPr lang="en-US" sz="1600" dirty="0">
                <a:solidFill>
                  <a:schemeClr val="bg1"/>
                </a:solidFill>
              </a:rPr>
              <a:t>Data includes information on Global open roles.</a:t>
            </a:r>
          </a:p>
          <a:p>
            <a:r>
              <a:rPr lang="en-US" sz="1600" dirty="0">
                <a:solidFill>
                  <a:schemeClr val="bg1"/>
                </a:solidFill>
              </a:rPr>
              <a:t>Searches are based on keyword “AI”. This does not include a search using the key word AI ( without quotes). </a:t>
            </a:r>
          </a:p>
          <a:p>
            <a:pPr lvl="1"/>
            <a:r>
              <a:rPr lang="en-US" sz="1600" dirty="0">
                <a:solidFill>
                  <a:schemeClr val="bg1"/>
                </a:solidFill>
              </a:rPr>
              <a:t>“AI” searches render a smaller number of open roles compared to searches using AI. </a:t>
            </a:r>
          </a:p>
          <a:p>
            <a:pPr lvl="1"/>
            <a:r>
              <a:rPr lang="en-US" sz="1600" dirty="0">
                <a:solidFill>
                  <a:schemeClr val="bg1"/>
                </a:solidFill>
              </a:rPr>
              <a:t>Reasons –</a:t>
            </a:r>
          </a:p>
          <a:p>
            <a:pPr lvl="2"/>
            <a:r>
              <a:rPr lang="en-US" sz="1600" dirty="0">
                <a:solidFill>
                  <a:schemeClr val="bg1"/>
                </a:solidFill>
              </a:rPr>
              <a:t>“AI” with quotes: This is likely treated as an exact phrase search. The search engine looks for job postings that contain the exact term “AI” in the same order, without any variations. This can limit the results to those that match the phrase precisely.</a:t>
            </a:r>
          </a:p>
          <a:p>
            <a:pPr lvl="2"/>
            <a:r>
              <a:rPr lang="en-US" sz="1600" dirty="0">
                <a:solidFill>
                  <a:schemeClr val="bg1"/>
                </a:solidFill>
              </a:rPr>
              <a:t>AI without quotes: This search is more flexible. The search engine may include job postings that contain the term AI, but also variations of the term, related phrases, or even synonyms that the algorithm considers relevant. This can significantly increase the number of results because it’s not restricted to the exact phrase.</a:t>
            </a:r>
          </a:p>
          <a:p>
            <a:pPr marL="914400" lvl="2" indent="0">
              <a:buNone/>
            </a:pPr>
            <a:endParaRPr lang="en-US" sz="1600" dirty="0">
              <a:solidFill>
                <a:schemeClr val="bg1"/>
              </a:solidFill>
            </a:endParaRPr>
          </a:p>
          <a:p>
            <a:pPr lvl="2"/>
            <a:endParaRPr lang="en-US" sz="1600" dirty="0">
              <a:solidFill>
                <a:schemeClr val="bg1"/>
              </a:solidFill>
            </a:endParaRPr>
          </a:p>
          <a:p>
            <a:endParaRPr lang="en-US" sz="1600" dirty="0">
              <a:solidFill>
                <a:schemeClr val="bg1"/>
              </a:solidFill>
            </a:endParaRPr>
          </a:p>
        </p:txBody>
      </p:sp>
      <p:sp>
        <p:nvSpPr>
          <p:cNvPr id="21" name="Rectangle 20">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627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DF696F-9AF8-4FC7-912E-7D36B25DFA83}"/>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AE5BFF7-3788-C5E2-F110-E3CB750C9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F67B7A9E-D585-7B0E-BE59-5FF47703A5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7B601052-B09A-B856-BFCF-2B5E01A601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Box 9">
            <a:extLst>
              <a:ext uri="{FF2B5EF4-FFF2-40B4-BE49-F238E27FC236}">
                <a16:creationId xmlns:a16="http://schemas.microsoft.com/office/drawing/2014/main" id="{3030484C-0614-5B33-65A6-28CAA2C8B2B3}"/>
              </a:ext>
            </a:extLst>
          </p:cNvPr>
          <p:cNvSpPr txBox="1"/>
          <p:nvPr/>
        </p:nvSpPr>
        <p:spPr>
          <a:xfrm>
            <a:off x="2483518" y="85506"/>
            <a:ext cx="7538786" cy="646331"/>
          </a:xfrm>
          <a:prstGeom prst="rect">
            <a:avLst/>
          </a:prstGeom>
          <a:noFill/>
        </p:spPr>
        <p:txBody>
          <a:bodyPr wrap="square">
            <a:spAutoFit/>
          </a:bodyPr>
          <a:lstStyle/>
          <a:p>
            <a:r>
              <a:rPr lang="en-US" sz="3600" dirty="0"/>
              <a:t>Global job data with “AI” as keyword</a:t>
            </a:r>
          </a:p>
        </p:txBody>
      </p:sp>
    </p:spTree>
    <p:extLst>
      <p:ext uri="{BB962C8B-B14F-4D97-AF65-F5344CB8AC3E}">
        <p14:creationId xmlns:p14="http://schemas.microsoft.com/office/powerpoint/2010/main" val="749644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4A2B13-3487-D963-591B-14DE38FDF015}"/>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271A9CF-19E9-7742-9DB7-72E36153E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3E6314F3-5A3D-4171-F492-9B964464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6E5AB3C-FC77-41C9-1B8F-07FC706038E8}"/>
              </a:ext>
            </a:extLst>
          </p:cNvPr>
          <p:cNvSpPr>
            <a:spLocks noGrp="1"/>
          </p:cNvSpPr>
          <p:nvPr>
            <p:ph type="title"/>
          </p:nvPr>
        </p:nvSpPr>
        <p:spPr>
          <a:xfrm>
            <a:off x="1186877" y="24370"/>
            <a:ext cx="9392421" cy="1330841"/>
          </a:xfrm>
        </p:spPr>
        <p:txBody>
          <a:bodyPr vert="horz" lIns="91440" tIns="45720" rIns="91440" bIns="45720" rtlCol="0" anchor="ctr">
            <a:normAutofit/>
          </a:bodyPr>
          <a:lstStyle/>
          <a:p>
            <a:r>
              <a:rPr lang="en-US" sz="4000" dirty="0"/>
              <a:t>Global job data with “AI” as keyword</a:t>
            </a:r>
            <a:br>
              <a:rPr lang="en-US" sz="4400" dirty="0"/>
            </a:br>
            <a:endParaRPr lang="en-US" sz="3200" kern="1200" dirty="0">
              <a:solidFill>
                <a:schemeClr val="tx1"/>
              </a:solidFill>
              <a:latin typeface="+mj-lt"/>
              <a:ea typeface="+mj-ea"/>
              <a:cs typeface="+mj-cs"/>
            </a:endParaRPr>
          </a:p>
        </p:txBody>
      </p:sp>
      <p:sp>
        <p:nvSpPr>
          <p:cNvPr id="14" name="Freeform: Shape 13">
            <a:extLst>
              <a:ext uri="{FF2B5EF4-FFF2-40B4-BE49-F238E27FC236}">
                <a16:creationId xmlns:a16="http://schemas.microsoft.com/office/drawing/2014/main" id="{E89CBD10-C67D-1D6B-B5F4-B87D6779DB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89920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C009E8-361C-B603-CA3C-16594031867B}"/>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5AB87B5-3269-4548-A0DD-9B558661F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32D1C24-00CB-D692-EB34-277EA7A75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3BC436-A26E-54C7-2C64-239997DEB498}"/>
              </a:ext>
            </a:extLst>
          </p:cNvPr>
          <p:cNvSpPr>
            <a:spLocks noGrp="1"/>
          </p:cNvSpPr>
          <p:nvPr>
            <p:ph type="title"/>
          </p:nvPr>
        </p:nvSpPr>
        <p:spPr>
          <a:xfrm>
            <a:off x="1186877" y="65575"/>
            <a:ext cx="9392421" cy="1330841"/>
          </a:xfrm>
        </p:spPr>
        <p:txBody>
          <a:bodyPr vert="horz" lIns="91440" tIns="45720" rIns="91440" bIns="45720" rtlCol="0" anchor="ctr">
            <a:normAutofit/>
          </a:bodyPr>
          <a:lstStyle/>
          <a:p>
            <a:pPr algn="ctr"/>
            <a:r>
              <a:rPr lang="en-US" sz="3600" dirty="0"/>
              <a:t>Global job data with “AI” as keyword – </a:t>
            </a:r>
            <a:br>
              <a:rPr lang="en-US" dirty="0"/>
            </a:br>
            <a:r>
              <a:rPr lang="en-US" sz="2700" dirty="0"/>
              <a:t>By Industry</a:t>
            </a:r>
            <a:endParaRPr lang="en-US" kern="1200" dirty="0">
              <a:solidFill>
                <a:schemeClr val="tx1"/>
              </a:solidFill>
              <a:latin typeface="+mj-lt"/>
              <a:ea typeface="+mj-ea"/>
              <a:cs typeface="+mj-cs"/>
            </a:endParaRPr>
          </a:p>
        </p:txBody>
      </p:sp>
      <p:sp>
        <p:nvSpPr>
          <p:cNvPr id="14" name="Freeform: Shape 13">
            <a:extLst>
              <a:ext uri="{FF2B5EF4-FFF2-40B4-BE49-F238E27FC236}">
                <a16:creationId xmlns:a16="http://schemas.microsoft.com/office/drawing/2014/main" id="{31CAF6B2-743A-9E96-51A2-BC74BB4D3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41431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76E9A5-E371-5DCF-9099-AFCB5CB997C6}"/>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C859E85F-F9D2-4C69-BA82-65A087F43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4D3E846E-E315-56EC-7BCD-8B00D3F5DE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B3F900C-4662-61BD-550C-04EFB1A5436B}"/>
              </a:ext>
            </a:extLst>
          </p:cNvPr>
          <p:cNvSpPr>
            <a:spLocks noGrp="1"/>
          </p:cNvSpPr>
          <p:nvPr>
            <p:ph type="title"/>
          </p:nvPr>
        </p:nvSpPr>
        <p:spPr>
          <a:xfrm>
            <a:off x="1186877" y="65575"/>
            <a:ext cx="9392421" cy="1330841"/>
          </a:xfrm>
        </p:spPr>
        <p:txBody>
          <a:bodyPr vert="horz" lIns="91440" tIns="45720" rIns="91440" bIns="45720" rtlCol="0" anchor="ctr">
            <a:normAutofit/>
          </a:bodyPr>
          <a:lstStyle/>
          <a:p>
            <a:pPr algn="ctr"/>
            <a:r>
              <a:rPr lang="en-US" dirty="0"/>
              <a:t>Global job data  – AI titled roles</a:t>
            </a:r>
            <a:endParaRPr lang="en-US" kern="1200" dirty="0">
              <a:solidFill>
                <a:schemeClr val="tx1"/>
              </a:solidFill>
              <a:latin typeface="+mj-lt"/>
              <a:ea typeface="+mj-ea"/>
              <a:cs typeface="+mj-cs"/>
            </a:endParaRPr>
          </a:p>
        </p:txBody>
      </p:sp>
      <p:sp>
        <p:nvSpPr>
          <p:cNvPr id="14" name="Freeform: Shape 13">
            <a:extLst>
              <a:ext uri="{FF2B5EF4-FFF2-40B4-BE49-F238E27FC236}">
                <a16:creationId xmlns:a16="http://schemas.microsoft.com/office/drawing/2014/main" id="{E6144C57-4328-385F-7A51-C93B326AE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9245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452B31-6B49-EA4F-E964-9864FEA197B0}"/>
              </a:ext>
            </a:extLst>
          </p:cNvPr>
          <p:cNvSpPr>
            <a:spLocks noGrp="1"/>
          </p:cNvSpPr>
          <p:nvPr>
            <p:ph type="title"/>
          </p:nvPr>
        </p:nvSpPr>
        <p:spPr>
          <a:xfrm>
            <a:off x="425825" y="368159"/>
            <a:ext cx="4696782" cy="1330841"/>
          </a:xfrm>
        </p:spPr>
        <p:txBody>
          <a:bodyPr vert="horz" lIns="91440" tIns="45720" rIns="91440" bIns="45720" rtlCol="0" anchor="ctr">
            <a:normAutofit/>
          </a:bodyPr>
          <a:lstStyle/>
          <a:p>
            <a:r>
              <a:rPr lang="en-US" kern="1200" dirty="0">
                <a:solidFill>
                  <a:schemeClr val="tx1"/>
                </a:solidFill>
                <a:latin typeface="+mj-lt"/>
                <a:ea typeface="+mj-ea"/>
                <a:cs typeface="+mj-cs"/>
              </a:rPr>
              <a:t>Keyword Search</a:t>
            </a:r>
          </a:p>
        </p:txBody>
      </p:sp>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32" name="TextBox 4">
            <a:extLst>
              <a:ext uri="{FF2B5EF4-FFF2-40B4-BE49-F238E27FC236}">
                <a16:creationId xmlns:a16="http://schemas.microsoft.com/office/drawing/2014/main" id="{2E5CEB66-CD38-5B2E-EBFB-05EB48FBF0A8}"/>
              </a:ext>
            </a:extLst>
          </p:cNvPr>
          <p:cNvGraphicFramePr/>
          <p:nvPr>
            <p:extLst>
              <p:ext uri="{D42A27DB-BD31-4B8C-83A1-F6EECF244321}">
                <p14:modId xmlns:p14="http://schemas.microsoft.com/office/powerpoint/2010/main" val="3447190384"/>
              </p:ext>
            </p:extLst>
          </p:nvPr>
        </p:nvGraphicFramePr>
        <p:xfrm>
          <a:off x="425824" y="1839058"/>
          <a:ext cx="4169109" cy="3179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Content Placeholder 7">
            <a:extLst>
              <a:ext uri="{FF2B5EF4-FFF2-40B4-BE49-F238E27FC236}">
                <a16:creationId xmlns:a16="http://schemas.microsoft.com/office/drawing/2014/main" id="{0E8C1FFC-3A65-7770-583F-F639D7393094}"/>
              </a:ext>
            </a:extLst>
          </p:cNvPr>
          <p:cNvGraphicFramePr>
            <a:graphicFrameLocks noGrp="1"/>
          </p:cNvGraphicFramePr>
          <p:nvPr>
            <p:ph idx="1"/>
            <p:extLst>
              <p:ext uri="{D42A27DB-BD31-4B8C-83A1-F6EECF244321}">
                <p14:modId xmlns:p14="http://schemas.microsoft.com/office/powerpoint/2010/main" val="1981657573"/>
              </p:ext>
            </p:extLst>
          </p:nvPr>
        </p:nvGraphicFramePr>
        <p:xfrm>
          <a:off x="5237934" y="511275"/>
          <a:ext cx="6566684" cy="6248279"/>
        </p:xfrm>
        <a:graphic>
          <a:graphicData uri="http://schemas.openxmlformats.org/drawingml/2006/table">
            <a:tbl>
              <a:tblPr/>
              <a:tblGrid>
                <a:gridCol w="2066547">
                  <a:extLst>
                    <a:ext uri="{9D8B030D-6E8A-4147-A177-3AD203B41FA5}">
                      <a16:colId xmlns:a16="http://schemas.microsoft.com/office/drawing/2014/main" val="3078275856"/>
                    </a:ext>
                  </a:extLst>
                </a:gridCol>
                <a:gridCol w="4500137">
                  <a:extLst>
                    <a:ext uri="{9D8B030D-6E8A-4147-A177-3AD203B41FA5}">
                      <a16:colId xmlns:a16="http://schemas.microsoft.com/office/drawing/2014/main" val="506723524"/>
                    </a:ext>
                  </a:extLst>
                </a:gridCol>
              </a:tblGrid>
              <a:tr h="220973">
                <a:tc>
                  <a:txBody>
                    <a:bodyPr/>
                    <a:lstStyle/>
                    <a:p>
                      <a:pPr algn="l" fontAlgn="b">
                        <a:buNone/>
                      </a:pPr>
                      <a:r>
                        <a:rPr lang="en-US" sz="1600" b="0" i="0" u="none" strike="noStrike">
                          <a:solidFill>
                            <a:srgbClr val="000000"/>
                          </a:solidFill>
                          <a:effectLst/>
                          <a:latin typeface="Aptos Narrow" panose="020B0004020202020204" pitchFamily="34" charset="0"/>
                        </a:rPr>
                        <a:t>Original keyword search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600" b="0" i="0" u="none" strike="noStrike" dirty="0">
                          <a:solidFill>
                            <a:srgbClr val="000000"/>
                          </a:solidFill>
                          <a:effectLst/>
                          <a:latin typeface="Aptos Narrow" panose="020B0004020202020204" pitchFamily="34" charset="0"/>
                        </a:rPr>
                        <a:t>Adjusted keyword search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16885"/>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Product Marketing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"AI Product marketing" OR "Artificial Intelligence Product marketing" OR "AI marketing"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1854980"/>
                  </a:ext>
                </a:extLst>
              </a:tr>
              <a:tr h="220973">
                <a:tc>
                  <a:txBody>
                    <a:bodyPr/>
                    <a:lstStyle/>
                    <a:p>
                      <a:pPr algn="l" fontAlgn="b">
                        <a:buNone/>
                      </a:pPr>
                      <a:r>
                        <a:rPr lang="en-US" sz="1400" b="0" i="0" u="none" strike="noStrike" dirty="0">
                          <a:solidFill>
                            <a:srgbClr val="000000"/>
                          </a:solidFill>
                          <a:effectLst/>
                          <a:latin typeface="Aptos Narrow" panose="020B0004020202020204" pitchFamily="34" charset="0"/>
                        </a:rPr>
                        <a:t>AI/ML Lead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"AI/ML Lead" OR "Artificial Intelligence lead" OR "Machine Leading Lead"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8452731"/>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AI/ML Developer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 "AI/ML Developer" OR "Developer AI/ML"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03650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Agent roles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 "AI Agent" OR "AI Agents"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7096801"/>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Product Manager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"AI Product Manager" OR "Product Manager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678148"/>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Prompt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"Prompt Engineer" OR "Prompt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697531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Researcher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Researcher" OR "Researcher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798898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Scientist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"AI Scientist" OR "Scientist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9308771"/>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Responsible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"Responsible AI" OR "AI Governance" - the AI Governance is new</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7106425"/>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Architect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Aptos Narrow" panose="020B0004020202020204" pitchFamily="34" charset="0"/>
                        </a:rPr>
                        <a:t>"AI Architect" OR "Architect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656139"/>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Developer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"AI Developer" OR "Developer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038892"/>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AI/ML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"AI/ML Engineer" OR "Engineer AI/ML"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437300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ML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"ML Engineer" OR "Engineer ML"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3479588"/>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Generative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 "Gen AI" OR "Generative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392284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Training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Training" OR "AI Trainer"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3347129"/>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"AI engineer" OR "Artificial Intelligence Engineer" OR "Engineer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0498039"/>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Data Science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"Data Science"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472550"/>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Data Scientist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"Data Scientist"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934089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Data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"data engineer" OR "data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601420"/>
                  </a:ext>
                </a:extLst>
              </a:tr>
              <a:tr h="297171">
                <a:tc>
                  <a:txBody>
                    <a:bodyPr/>
                    <a:lstStyle/>
                    <a:p>
                      <a:pPr algn="l" fontAlgn="b">
                        <a:buNone/>
                      </a:pPr>
                      <a:r>
                        <a:rPr lang="en-US" sz="1400" b="0" i="0" u="none" strike="noStrike">
                          <a:solidFill>
                            <a:srgbClr val="000000"/>
                          </a:solidFill>
                          <a:effectLst/>
                          <a:latin typeface="Aptos Narrow" panose="020B0004020202020204" pitchFamily="34" charset="0"/>
                        </a:rPr>
                        <a:t>LLM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"LLM Engineer" OR "LLM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0009320"/>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Software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software engineer" OR "AI software engineering" OR "software engineer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9296607"/>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Product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product engineer" OR "Product engineer AI" OR "AI product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5847027"/>
                  </a:ext>
                </a:extLst>
              </a:tr>
            </a:tbl>
          </a:graphicData>
        </a:graphic>
      </p:graphicFrame>
    </p:spTree>
    <p:extLst>
      <p:ext uri="{BB962C8B-B14F-4D97-AF65-F5344CB8AC3E}">
        <p14:creationId xmlns:p14="http://schemas.microsoft.com/office/powerpoint/2010/main" val="1237547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descr="Slide title - Global job data with “AI” as keyword – &#10;List of a few companies and number of open roles. A few of the companies are:&#10;Microsoft&#10;EY&#10;AWS&#10;Cnonical&#10;Accenture in India&#10;Deloitte&#10;NVIDIA">
            <a:extLst>
              <a:ext uri="{FF2B5EF4-FFF2-40B4-BE49-F238E27FC236}">
                <a16:creationId xmlns:a16="http://schemas.microsoft.com/office/drawing/2014/main" id="{32996CC5-405B-39B2-7F29-E6FFBE3B3528}"/>
              </a:ext>
            </a:extLst>
          </p:cNvPr>
          <p:cNvSpPr>
            <a:spLocks noGrp="1"/>
          </p:cNvSpPr>
          <p:nvPr>
            <p:ph type="title"/>
          </p:nvPr>
        </p:nvSpPr>
        <p:spPr>
          <a:xfrm>
            <a:off x="1089430" y="65575"/>
            <a:ext cx="9392421" cy="1330841"/>
          </a:xfrm>
        </p:spPr>
        <p:txBody>
          <a:bodyPr vert="horz" lIns="91440" tIns="45720" rIns="91440" bIns="45720" rtlCol="0" anchor="ctr">
            <a:normAutofit/>
          </a:bodyPr>
          <a:lstStyle/>
          <a:p>
            <a:r>
              <a:rPr lang="en-US" sz="2800" kern="1200" dirty="0">
                <a:solidFill>
                  <a:schemeClr val="tx1"/>
                </a:solidFill>
                <a:latin typeface="+mj-lt"/>
                <a:ea typeface="+mj-ea"/>
                <a:cs typeface="+mj-cs"/>
              </a:rPr>
              <a:t>Global job data with “AI” as keyword – </a:t>
            </a:r>
            <a:br>
              <a:rPr lang="en-US" sz="2800" kern="1200" dirty="0">
                <a:solidFill>
                  <a:schemeClr val="tx1"/>
                </a:solidFill>
                <a:latin typeface="+mj-lt"/>
                <a:ea typeface="+mj-ea"/>
                <a:cs typeface="+mj-cs"/>
              </a:rPr>
            </a:br>
            <a:r>
              <a:rPr lang="en-US" sz="2800" kern="1200" dirty="0">
                <a:solidFill>
                  <a:schemeClr val="tx1"/>
                </a:solidFill>
                <a:latin typeface="+mj-lt"/>
                <a:ea typeface="+mj-ea"/>
                <a:cs typeface="+mj-cs"/>
              </a:rPr>
              <a:t>List of a few companies and number of open roles</a:t>
            </a:r>
            <a:br>
              <a:rPr lang="en-US" sz="2800" kern="1200" dirty="0">
                <a:solidFill>
                  <a:schemeClr val="tx1"/>
                </a:solidFill>
                <a:latin typeface="+mj-lt"/>
                <a:ea typeface="+mj-ea"/>
                <a:cs typeface="+mj-cs"/>
              </a:rPr>
            </a:br>
            <a:endParaRPr lang="en-US" sz="2800"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A443A559-8B9D-5957-A326-44C4DA061AD4}"/>
              </a:ext>
            </a:extLst>
          </p:cNvPr>
          <p:cNvSpPr txBox="1"/>
          <p:nvPr/>
        </p:nvSpPr>
        <p:spPr>
          <a:xfrm>
            <a:off x="85502" y="1632307"/>
            <a:ext cx="4739523" cy="3917773"/>
          </a:xfrm>
          <a:prstGeom prst="rect">
            <a:avLst/>
          </a:prstGeom>
        </p:spPr>
        <p:txBody>
          <a:bodyPr vert="horz" lIns="91440" tIns="45720" rIns="91440" bIns="45720" rtlCol="0">
            <a:normAutofit/>
          </a:bodyPr>
          <a:lstStyle/>
          <a:p>
            <a:pPr>
              <a:lnSpc>
                <a:spcPct val="90000"/>
              </a:lnSpc>
              <a:spcAft>
                <a:spcPts val="600"/>
              </a:spcAft>
            </a:pPr>
            <a:r>
              <a:rPr lang="en-US" sz="2000" dirty="0"/>
              <a:t>Company highlights:</a:t>
            </a:r>
          </a:p>
          <a:p>
            <a:pPr marL="57150">
              <a:lnSpc>
                <a:spcPct val="90000"/>
              </a:lnSpc>
              <a:spcAft>
                <a:spcPts val="600"/>
              </a:spcAft>
            </a:pPr>
            <a:endParaRPr lang="en-US" sz="2000" dirty="0"/>
          </a:p>
          <a:p>
            <a:pPr marL="285750" indent="-228600">
              <a:lnSpc>
                <a:spcPct val="90000"/>
              </a:lnSpc>
              <a:spcAft>
                <a:spcPts val="600"/>
              </a:spcAft>
              <a:buFont typeface="Arial" panose="020B0604020202020204" pitchFamily="34" charset="0"/>
              <a:buChar char="•"/>
            </a:pPr>
            <a:endParaRPr lang="en-US" sz="2000" dirty="0"/>
          </a:p>
        </p:txBody>
      </p:sp>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947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17950A-969A-EC89-C038-14EC9F2CFBE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D325336-6194-A3A3-36CC-62E648E9C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F10AF4F-5B84-85E0-7F3C-59A1B8FB9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descr="Slide title - Global job data with “AI” as keyword – &#10;List of a few companies and number of open roles. A few of the companies are:&#10;Microsoft&#10;EY&#10;AWS&#10;Cnonical&#10;Accenture in India&#10;Deloitte&#10;NVIDIA">
            <a:extLst>
              <a:ext uri="{FF2B5EF4-FFF2-40B4-BE49-F238E27FC236}">
                <a16:creationId xmlns:a16="http://schemas.microsoft.com/office/drawing/2014/main" id="{4C8EE4F1-6EE2-A87C-2620-D3B06C3013EB}"/>
              </a:ext>
            </a:extLst>
          </p:cNvPr>
          <p:cNvSpPr>
            <a:spLocks noGrp="1"/>
          </p:cNvSpPr>
          <p:nvPr>
            <p:ph type="title"/>
          </p:nvPr>
        </p:nvSpPr>
        <p:spPr>
          <a:xfrm>
            <a:off x="1089430" y="65575"/>
            <a:ext cx="9392421" cy="995129"/>
          </a:xfrm>
        </p:spPr>
        <p:txBody>
          <a:bodyPr vert="horz" lIns="91440" tIns="45720" rIns="91440" bIns="45720" rtlCol="0" anchor="ctr">
            <a:normAutofit/>
          </a:bodyPr>
          <a:lstStyle/>
          <a:p>
            <a:pPr algn="ctr"/>
            <a:r>
              <a:rPr lang="en-US" sz="2800" b="0" i="0" u="none" strike="noStrike" baseline="0" dirty="0">
                <a:solidFill>
                  <a:sysClr val="windowText" lastClr="000000">
                    <a:lumMod val="65000"/>
                    <a:lumOff val="35000"/>
                  </a:sysClr>
                </a:solidFill>
                <a:latin typeface="Aptos Narrow" panose="02110004020202020204"/>
              </a:rPr>
              <a:t>“AI roles” - United States </a:t>
            </a:r>
            <a:br>
              <a:rPr lang="en-US" sz="2800" kern="1200" dirty="0">
                <a:solidFill>
                  <a:schemeClr val="tx1"/>
                </a:solidFill>
                <a:latin typeface="+mj-lt"/>
                <a:ea typeface="+mj-ea"/>
                <a:cs typeface="+mj-cs"/>
              </a:rPr>
            </a:br>
            <a:endParaRPr lang="en-US" sz="2800" kern="1200" dirty="0">
              <a:solidFill>
                <a:schemeClr val="tx1"/>
              </a:solidFill>
              <a:latin typeface="+mj-lt"/>
              <a:ea typeface="+mj-ea"/>
              <a:cs typeface="+mj-cs"/>
            </a:endParaRPr>
          </a:p>
        </p:txBody>
      </p:sp>
      <p:sp>
        <p:nvSpPr>
          <p:cNvPr id="16" name="Freeform: Shape 15">
            <a:extLst>
              <a:ext uri="{FF2B5EF4-FFF2-40B4-BE49-F238E27FC236}">
                <a16:creationId xmlns:a16="http://schemas.microsoft.com/office/drawing/2014/main" id="{D19BBCB8-275C-BC82-BAE7-5BF2BCF27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668FBCBB-6261-479A-60D2-7DC15BF60CC7}"/>
              </a:ext>
            </a:extLst>
          </p:cNvPr>
          <p:cNvSpPr txBox="1"/>
          <p:nvPr/>
        </p:nvSpPr>
        <p:spPr>
          <a:xfrm>
            <a:off x="192456" y="3881052"/>
            <a:ext cx="2506894" cy="2031325"/>
          </a:xfrm>
          <a:prstGeom prst="rect">
            <a:avLst/>
          </a:prstGeom>
          <a:noFill/>
        </p:spPr>
        <p:txBody>
          <a:bodyPr wrap="square" rtlCol="0">
            <a:spAutoFit/>
          </a:bodyPr>
          <a:lstStyle/>
          <a:p>
            <a:r>
              <a:rPr lang="en-US" dirty="0"/>
              <a:t>Remote roles are not included in the map visualization as they could be double counted. Meaning, the same role posted in multiple states. </a:t>
            </a:r>
          </a:p>
        </p:txBody>
      </p:sp>
    </p:spTree>
    <p:extLst>
      <p:ext uri="{BB962C8B-B14F-4D97-AF65-F5344CB8AC3E}">
        <p14:creationId xmlns:p14="http://schemas.microsoft.com/office/powerpoint/2010/main" val="1277433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14779</TotalTime>
  <Words>672</Words>
  <Application>Microsoft Office PowerPoint</Application>
  <PresentationFormat>Widescreen</PresentationFormat>
  <Paragraphs>69</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Aptos Narrow</vt:lpstr>
      <vt:lpstr>Arial</vt:lpstr>
      <vt:lpstr>Calibri</vt:lpstr>
      <vt:lpstr>Office Theme</vt:lpstr>
      <vt:lpstr> “AI” Focused Job Opportunities as of April 20, 2026</vt:lpstr>
      <vt:lpstr>Data Aggregation Process </vt:lpstr>
      <vt:lpstr>PowerPoint Presentation</vt:lpstr>
      <vt:lpstr>Global job data with “AI” as keyword </vt:lpstr>
      <vt:lpstr>Global job data with “AI” as keyword –  By Industry</vt:lpstr>
      <vt:lpstr>Global job data  – AI titled roles</vt:lpstr>
      <vt:lpstr>Keyword Search</vt:lpstr>
      <vt:lpstr>Global job data with “AI” as keyword –  List of a few companies and number of open roles </vt:lpstr>
      <vt:lpstr>“AI roles” - United States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dc:creator>
  <cp:lastModifiedBy>JOE CAMP</cp:lastModifiedBy>
  <cp:revision>63</cp:revision>
  <dcterms:created xsi:type="dcterms:W3CDTF">2024-09-05T17:29:03Z</dcterms:created>
  <dcterms:modified xsi:type="dcterms:W3CDTF">2026-05-21T17:31:23Z</dcterms:modified>
</cp:coreProperties>
</file>